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19"/>
  </p:notesMasterIdLst>
  <p:sldIdLst>
    <p:sldId id="281" r:id="rId2"/>
    <p:sldId id="292" r:id="rId3"/>
    <p:sldId id="2147377088" r:id="rId4"/>
    <p:sldId id="2147377089" r:id="rId5"/>
    <p:sldId id="2147377070" r:id="rId6"/>
    <p:sldId id="2147377079" r:id="rId7"/>
    <p:sldId id="2147377100" r:id="rId8"/>
    <p:sldId id="2147377103" r:id="rId9"/>
    <p:sldId id="2147377105" r:id="rId10"/>
    <p:sldId id="2147377102" r:id="rId11"/>
    <p:sldId id="2147377104" r:id="rId12"/>
    <p:sldId id="2147377085" r:id="rId13"/>
    <p:sldId id="314" r:id="rId14"/>
    <p:sldId id="2147377106" r:id="rId15"/>
    <p:sldId id="2147377098" r:id="rId16"/>
    <p:sldId id="2147377101" r:id="rId17"/>
    <p:sldId id="214737709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849"/>
    <a:srgbClr val="002060"/>
    <a:srgbClr val="00020C"/>
    <a:srgbClr val="000000"/>
    <a:srgbClr val="000317"/>
    <a:srgbClr val="000820"/>
    <a:srgbClr val="000513"/>
    <a:srgbClr val="0A0623"/>
    <a:srgbClr val="001543"/>
    <a:srgbClr val="000F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88"/>
    <p:restoredTop sz="95102"/>
  </p:normalViewPr>
  <p:slideViewPr>
    <p:cSldViewPr snapToGrid="0">
      <p:cViewPr varScale="1">
        <p:scale>
          <a:sx n="122" d="100"/>
          <a:sy n="122" d="100"/>
        </p:scale>
        <p:origin x="5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301EA1-631C-C041-9A27-6D3213D7B1EF}" type="datetimeFigureOut">
              <a:rPr lang="en-US" smtClean="0"/>
              <a:t>6/10/26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0F03D2-2B5E-7040-9410-CDBE46EB41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954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F03D2-2B5E-7040-9410-CDBE46EB41D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709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F03D2-2B5E-7040-9410-CDBE46EB41D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844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3A8-2A15-5141-8FBF-5D6BD5CA35A5}" type="datetimeFigureOut">
              <a:rPr lang="en-US" smtClean="0"/>
              <a:t>6/10/26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EF20-C2B0-6A45-A41C-84C3393AE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448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3A8-2A15-5141-8FBF-5D6BD5CA35A5}" type="datetimeFigureOut">
              <a:rPr lang="en-US" smtClean="0"/>
              <a:t>6/10/26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EF20-C2B0-6A45-A41C-84C3393AE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301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3A8-2A15-5141-8FBF-5D6BD5CA35A5}" type="datetimeFigureOut">
              <a:rPr lang="en-US" smtClean="0"/>
              <a:t>6/10/26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EF20-C2B0-6A45-A41C-84C3393AE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573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3A8-2A15-5141-8FBF-5D6BD5CA35A5}" type="datetimeFigureOut">
              <a:rPr lang="en-US" smtClean="0"/>
              <a:t>6/10/26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EF20-C2B0-6A45-A41C-84C3393AE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843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3A8-2A15-5141-8FBF-5D6BD5CA35A5}" type="datetimeFigureOut">
              <a:rPr lang="en-US" smtClean="0"/>
              <a:t>6/10/26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EF20-C2B0-6A45-A41C-84C3393AE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085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3A8-2A15-5141-8FBF-5D6BD5CA35A5}" type="datetimeFigureOut">
              <a:rPr lang="en-US" smtClean="0"/>
              <a:t>6/10/26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EF20-C2B0-6A45-A41C-84C3393AE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2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3A8-2A15-5141-8FBF-5D6BD5CA35A5}" type="datetimeFigureOut">
              <a:rPr lang="en-US" smtClean="0"/>
              <a:t>6/10/26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EF20-C2B0-6A45-A41C-84C3393AE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928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3A8-2A15-5141-8FBF-5D6BD5CA35A5}" type="datetimeFigureOut">
              <a:rPr lang="en-US" smtClean="0"/>
              <a:t>6/10/26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EF20-C2B0-6A45-A41C-84C3393AE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9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3A8-2A15-5141-8FBF-5D6BD5CA35A5}" type="datetimeFigureOut">
              <a:rPr lang="en-US" smtClean="0"/>
              <a:t>6/10/26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EF20-C2B0-6A45-A41C-84C3393AE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752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3A8-2A15-5141-8FBF-5D6BD5CA35A5}" type="datetimeFigureOut">
              <a:rPr lang="en-US" smtClean="0"/>
              <a:t>6/10/26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EF20-C2B0-6A45-A41C-84C3393AE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009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13A8-2A15-5141-8FBF-5D6BD5CA35A5}" type="datetimeFigureOut">
              <a:rPr lang="en-US" smtClean="0"/>
              <a:t>6/10/26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EF20-C2B0-6A45-A41C-84C3393AE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80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213A8-2A15-5141-8FBF-5D6BD5CA35A5}" type="datetimeFigureOut">
              <a:rPr lang="en-US" smtClean="0"/>
              <a:t>6/10/26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EEF20-C2B0-6A45-A41C-84C3393AE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68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ccentBar"/>
          <p:cNvSpPr>
            <a:spLocks noGrp="1"/>
          </p:cNvSpPr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GoldBar"/>
          <p:cNvSpPr>
            <a:spLocks noGrp="1"/>
          </p:cNvSpPr>
          <p:nvPr/>
        </p:nvSpPr>
        <p:spPr>
          <a:xfrm>
            <a:off x="120000" y="0"/>
            <a:ext cx="80000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agline"/>
          <p:cNvSpPr txBox="1"/>
          <p:nvPr/>
        </p:nvSpPr>
        <p:spPr>
          <a:xfrm>
            <a:off x="600000" y="1500000"/>
            <a:ext cx="110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0D4FF"/>
                </a:solidFill>
                <a:latin typeface="Trebuchet MS"/>
              </a:rPr>
              <a:t> INTERNET OF NATURE  •  PLANETARY AI  •  EQUAL ACCESS FOR ALL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747AD5-76D6-09E4-D252-B18AE6640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088" y="2576946"/>
            <a:ext cx="5501824" cy="1143748"/>
          </a:xfrm>
          <a:prstGeom prst="rect">
            <a:avLst/>
          </a:prstGeom>
        </p:spPr>
      </p:pic>
      <p:sp>
        <p:nvSpPr>
          <p:cNvPr id="23" name="BottomStrip"/>
          <p:cNvSpPr>
            <a:spLocks noGrp="1"/>
          </p:cNvSpPr>
          <p:nvPr/>
        </p:nvSpPr>
        <p:spPr>
          <a:xfrm>
            <a:off x="0" y="6300000"/>
            <a:ext cx="12192000" cy="558000"/>
          </a:xfrm>
          <a:prstGeom prst="rect">
            <a:avLst/>
          </a:prstGeom>
          <a:solidFill>
            <a:srgbClr val="0A1A4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200" dirty="0">
                <a:solidFill>
                  <a:srgbClr val="8899BB"/>
                </a:solidFill>
                <a:latin typeface="Trebuchet MS"/>
              </a:rPr>
              <a:t>A Global AI Architecture for Environmental Intelligence • Enterprise Neurosystem</a:t>
            </a:r>
          </a:p>
        </p:txBody>
      </p:sp>
    </p:spTree>
    <p:extLst>
      <p:ext uri="{BB962C8B-B14F-4D97-AF65-F5344CB8AC3E}">
        <p14:creationId xmlns:p14="http://schemas.microsoft.com/office/powerpoint/2010/main" val="168053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C71E68A-D35B-00C7-EFA0-9F819438D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6944" y="6034905"/>
            <a:ext cx="731252" cy="6016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CB67B2-C9F2-B649-C5A0-D003993C0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7674" y="18232"/>
            <a:ext cx="9724326" cy="6930185"/>
          </a:xfrm>
          <a:prstGeom prst="rect">
            <a:avLst/>
          </a:prstGeom>
          <a:solidFill>
            <a:srgbClr val="000000"/>
          </a:solidFill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9A050A-A489-ED8C-2C4C-BA658F415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9344" y="6187305"/>
            <a:ext cx="731252" cy="6016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4484552-89E1-C527-B998-E5A34C665C54}"/>
              </a:ext>
            </a:extLst>
          </p:cNvPr>
          <p:cNvSpPr txBox="1"/>
          <p:nvPr/>
        </p:nvSpPr>
        <p:spPr>
          <a:xfrm>
            <a:off x="4766" y="18231"/>
            <a:ext cx="2806700" cy="6930185"/>
          </a:xfrm>
          <a:prstGeom prst="rect">
            <a:avLst/>
          </a:prstGeom>
          <a:solidFill>
            <a:srgbClr val="040B1E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7C1C40-750D-D789-8CE9-2E45868774FF}"/>
              </a:ext>
            </a:extLst>
          </p:cNvPr>
          <p:cNvSpPr txBox="1"/>
          <p:nvPr/>
        </p:nvSpPr>
        <p:spPr>
          <a:xfrm>
            <a:off x="263804" y="267461"/>
            <a:ext cx="5138513" cy="5999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00B0F0"/>
                </a:solidFill>
                <a:latin typeface="Red Hat Display" panose="02010503040201060303" pitchFamily="2" charset="0"/>
                <a:ea typeface="Red Hat Display" panose="02010503040201060303" pitchFamily="2" charset="0"/>
                <a:cs typeface="Red Hat Display" panose="02010503040201060303" pitchFamily="2" charset="0"/>
              </a:rPr>
              <a:t>     </a:t>
            </a:r>
            <a:r>
              <a:rPr lang="en-US" sz="2000" b="1" dirty="0">
                <a:solidFill>
                  <a:srgbClr val="FFC000"/>
                </a:solidFill>
                <a:latin typeface="Trebuchet MS"/>
              </a:rPr>
              <a:t>The Enterprise Neurosystem Vision</a:t>
            </a: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Red Hat Display" panose="02010503040201060303" pitchFamily="2" charset="0"/>
                <a:cs typeface="Arial" panose="020B0604020202020204" pitchFamily="34" charset="0"/>
              </a:rPr>
              <a:t>A single global AI neurology, with equal access for all nations.</a:t>
            </a: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Red Hat Display" panose="02010503040201060303" pitchFamily="2" charset="0"/>
                <a:cs typeface="Arial" panose="020B0604020202020204" pitchFamily="34" charset="0"/>
              </a:rPr>
              <a:t>Analyzes natural systems on a global scale to understand environmental impacts on the plant and animal species of the world </a:t>
            </a:r>
            <a:r>
              <a:rPr lang="en-US" sz="1600" dirty="0">
                <a:solidFill>
                  <a:srgbClr val="FFC000"/>
                </a:solidFill>
                <a:latin typeface="Arial" panose="020B0604020202020204" pitchFamily="34" charset="0"/>
                <a:ea typeface="Red Hat Display" panose="02010503040201060303" pitchFamily="2" charset="0"/>
                <a:cs typeface="Arial" panose="020B0604020202020204" pitchFamily="34" charset="0"/>
              </a:rPr>
              <a:t>– the Internet of Nature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Red Hat Display" panose="02010503040201060303" pitchFamily="2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Red Hat Display" panose="02010503040201060303" pitchFamily="2" charset="0"/>
                <a:cs typeface="Arial" panose="020B0604020202020204" pitchFamily="34" charset="0"/>
              </a:rPr>
              <a:t>Integrates existing projects – satellite networks, and atmospheric, oceanic, seismic and agricultural sensors, for deeper AI cross-correlation.</a:t>
            </a: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Red Hat Display" panose="02010503040201060303" pitchFamily="2" charset="0"/>
                <a:cs typeface="Arial" panose="020B0604020202020204" pitchFamily="34" charset="0"/>
              </a:rPr>
              <a:t>Enables access for developing nations to current AI models, historical data, and sharing of indigenous knowledge of local habitats and species.</a:t>
            </a: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Red Hat Display" panose="02010503040201060303" pitchFamily="2" charset="0"/>
                <a:cs typeface="Arial" panose="020B0604020202020204" pitchFamily="34" charset="0"/>
              </a:rPr>
              <a:t>Acts as an early warning architecture, and an AI recommendation engine for course-correction.</a:t>
            </a:r>
          </a:p>
        </p:txBody>
      </p:sp>
      <p:sp>
        <p:nvSpPr>
          <p:cNvPr id="100" name="AccentBar"/>
          <p:cNvSpPr>
            <a:spLocks noGrp="1"/>
          </p:cNvSpPr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6386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DFFEEF-C71C-B367-0E3B-44A7D131D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4;p3">
            <a:extLst>
              <a:ext uri="{FF2B5EF4-FFF2-40B4-BE49-F238E27FC236}">
                <a16:creationId xmlns:a16="http://schemas.microsoft.com/office/drawing/2014/main" id="{434F07A5-2F59-F021-2B27-B5271865E7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13322" y="6011068"/>
            <a:ext cx="731252" cy="601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68BF45-9EEC-B956-B308-0C5F0C65C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9659" y="3225312"/>
            <a:ext cx="2556412" cy="25564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97D557-9482-7287-894C-2EF5DA2A2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9659" y="272983"/>
            <a:ext cx="2556412" cy="25564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03A057-95CC-D2D1-0801-4614E4D5BC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909" y="3225312"/>
            <a:ext cx="2556411" cy="25564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D74FD6-998F-FB98-AD13-EDC9C80136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7909" y="272983"/>
            <a:ext cx="2556412" cy="25564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792ACD1-3299-1671-FF62-62187E54C4A0}"/>
              </a:ext>
            </a:extLst>
          </p:cNvPr>
          <p:cNvSpPr txBox="1"/>
          <p:nvPr/>
        </p:nvSpPr>
        <p:spPr>
          <a:xfrm>
            <a:off x="408933" y="272983"/>
            <a:ext cx="4872234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Red Hat Text" panose="02010503040201060303" pitchFamily="2" charset="77"/>
              </a:rPr>
              <a:t>Satellites and other atmospheric and oceanic observation methods are already in place, in addition to mobile and satellite communications networks.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Red Hat Text" panose="020105030402010603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Red Hat Text" panose="02010503040201060303" pitchFamily="2" charset="77"/>
              </a:rPr>
              <a:t>Sensors will be placed among key species, forests, crops and natural resources. They will monitor waterways, soil, atmospheric pollution, and other areas of human impact.</a:t>
            </a:r>
          </a:p>
          <a:p>
            <a:endParaRPr lang="en-US" sz="1600" dirty="0">
              <a:solidFill>
                <a:schemeClr val="bg1"/>
              </a:solidFill>
              <a:latin typeface="Red Hat Text" panose="020105030402010603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Red Hat Text" panose="02010503040201060303" pitchFamily="2" charset="77"/>
              </a:rPr>
              <a:t>The sensors pass this data onto the primary network, then to AI instances in each country for real time pattern analysis.  AI then takes the real time data and cross-correlates it with historical data by area.</a:t>
            </a:r>
          </a:p>
          <a:p>
            <a:endParaRPr lang="en-US" sz="1600" dirty="0">
              <a:solidFill>
                <a:schemeClr val="bg1"/>
              </a:solidFill>
              <a:latin typeface="Red Hat Text" panose="020105030402010603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Red Hat Text" panose="02010503040201060303" pitchFamily="2" charset="77"/>
              </a:rPr>
              <a:t>Deeper early warning patterns begin to emerge - population density levels for multiple species, deforestation, soil moisture levels, agricultural monitoring, flood and drought conditions, atmospheric pollution, wildfire risks, irrigation levels and so 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Red Hat Text" panose="020105030402010603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Red Hat Text" panose="02010503040201060303" pitchFamily="2" charset="77"/>
              </a:rPr>
              <a:t>With all this data, highly accurate AI early warning predictions and new course correction recommendations become possible.</a:t>
            </a:r>
          </a:p>
          <a:p>
            <a:endParaRPr lang="en-US" sz="1600" dirty="0">
              <a:solidFill>
                <a:schemeClr val="bg1"/>
              </a:solidFill>
              <a:latin typeface="Red Hat Text" panose="02010503040201060303" pitchFamily="2" charset="77"/>
            </a:endParaRPr>
          </a:p>
          <a:p>
            <a:endParaRPr lang="en-US" sz="1400" dirty="0">
              <a:solidFill>
                <a:schemeClr val="bg1"/>
              </a:solidFill>
              <a:latin typeface="Red Hat Text" panose="02010503040201060303" pitchFamily="2" charset="77"/>
            </a:endParaRPr>
          </a:p>
          <a:p>
            <a:endParaRPr lang="en-US" sz="1800" dirty="0">
              <a:solidFill>
                <a:schemeClr val="bg1"/>
              </a:solidFill>
              <a:latin typeface="Red Hat Text" panose="02010503040201060303" pitchFamily="2" charset="77"/>
            </a:endParaRPr>
          </a:p>
          <a:p>
            <a:endParaRPr lang="en-US" sz="1800" dirty="0">
              <a:solidFill>
                <a:schemeClr val="bg1"/>
              </a:solidFill>
              <a:latin typeface="Red Hat Text" panose="02010503040201060303" pitchFamily="2" charset="77"/>
            </a:endParaRPr>
          </a:p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770F24-40A0-9274-4449-25A16CCF3320}"/>
              </a:ext>
            </a:extLst>
          </p:cNvPr>
          <p:cNvSpPr/>
          <p:nvPr/>
        </p:nvSpPr>
        <p:spPr>
          <a:xfrm>
            <a:off x="8411025" y="2714616"/>
            <a:ext cx="760850" cy="7315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AI</a:t>
            </a:r>
          </a:p>
        </p:txBody>
      </p:sp>
      <p:sp>
        <p:nvSpPr>
          <p:cNvPr id="19" name="Bent-Up Arrow 18">
            <a:extLst>
              <a:ext uri="{FF2B5EF4-FFF2-40B4-BE49-F238E27FC236}">
                <a16:creationId xmlns:a16="http://schemas.microsoft.com/office/drawing/2014/main" id="{3CBF758D-B169-E5ED-4627-0C0DD361E727}"/>
              </a:ext>
            </a:extLst>
          </p:cNvPr>
          <p:cNvSpPr/>
          <p:nvPr/>
        </p:nvSpPr>
        <p:spPr>
          <a:xfrm>
            <a:off x="9183432" y="2295834"/>
            <a:ext cx="850392" cy="731520"/>
          </a:xfrm>
          <a:prstGeom prst="bentUpArrow">
            <a:avLst/>
          </a:prstGeom>
          <a:solidFill>
            <a:srgbClr val="00B0F0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Bent-Up Arrow 19">
            <a:extLst>
              <a:ext uri="{FF2B5EF4-FFF2-40B4-BE49-F238E27FC236}">
                <a16:creationId xmlns:a16="http://schemas.microsoft.com/office/drawing/2014/main" id="{F5C3F8E0-783E-D379-3C16-B763C6FE3BE3}"/>
              </a:ext>
            </a:extLst>
          </p:cNvPr>
          <p:cNvSpPr/>
          <p:nvPr/>
        </p:nvSpPr>
        <p:spPr>
          <a:xfrm rot="10800000" flipH="1">
            <a:off x="9183432" y="3078839"/>
            <a:ext cx="850392" cy="748656"/>
          </a:xfrm>
          <a:prstGeom prst="bentUpArrow">
            <a:avLst/>
          </a:prstGeom>
          <a:solidFill>
            <a:srgbClr val="00B0F0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Bent-Up Arrow 20">
            <a:extLst>
              <a:ext uri="{FF2B5EF4-FFF2-40B4-BE49-F238E27FC236}">
                <a16:creationId xmlns:a16="http://schemas.microsoft.com/office/drawing/2014/main" id="{3AF856B2-1D79-3757-7E6C-569E51BA3C91}"/>
              </a:ext>
            </a:extLst>
          </p:cNvPr>
          <p:cNvSpPr/>
          <p:nvPr/>
        </p:nvSpPr>
        <p:spPr>
          <a:xfrm rot="10800000">
            <a:off x="7559555" y="3087406"/>
            <a:ext cx="850392" cy="731520"/>
          </a:xfrm>
          <a:prstGeom prst="bentUpArrow">
            <a:avLst/>
          </a:prstGeom>
          <a:solidFill>
            <a:srgbClr val="00B0F0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Bent-Up Arrow 21">
            <a:extLst>
              <a:ext uri="{FF2B5EF4-FFF2-40B4-BE49-F238E27FC236}">
                <a16:creationId xmlns:a16="http://schemas.microsoft.com/office/drawing/2014/main" id="{8D3B62F9-A095-2A5F-4E7F-36B66F26B8C7}"/>
              </a:ext>
            </a:extLst>
          </p:cNvPr>
          <p:cNvSpPr/>
          <p:nvPr/>
        </p:nvSpPr>
        <p:spPr>
          <a:xfrm flipH="1">
            <a:off x="7559555" y="2290264"/>
            <a:ext cx="850392" cy="731520"/>
          </a:xfrm>
          <a:prstGeom prst="bentUpArrow">
            <a:avLst/>
          </a:prstGeom>
          <a:solidFill>
            <a:srgbClr val="00B0F0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AccentBar"/>
          <p:cNvSpPr>
            <a:spLocks noGrp="1"/>
          </p:cNvSpPr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3984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2A296-FADD-CCB9-F8CF-5B6B90916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4;p3">
            <a:extLst>
              <a:ext uri="{FF2B5EF4-FFF2-40B4-BE49-F238E27FC236}">
                <a16:creationId xmlns:a16="http://schemas.microsoft.com/office/drawing/2014/main" id="{9D5CB6C1-AF83-8527-BC51-35B3CEC1916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13322" y="6011068"/>
            <a:ext cx="731252" cy="60166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7DE7E5-A086-BA48-607D-D51C3D6A65C8}"/>
              </a:ext>
            </a:extLst>
          </p:cNvPr>
          <p:cNvSpPr txBox="1"/>
          <p:nvPr/>
        </p:nvSpPr>
        <p:spPr>
          <a:xfrm>
            <a:off x="1417593" y="688768"/>
            <a:ext cx="9356813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Red Hat Text" panose="02010503040201060303" pitchFamily="2" charset="77"/>
              </a:rPr>
              <a:t>A single AI network - with global-scale data and pattern identification  - will provide the first complete picture of our planetary environment, based on </a:t>
            </a:r>
            <a:r>
              <a:rPr lang="en-US" sz="2000" dirty="0">
                <a:solidFill>
                  <a:schemeClr val="accent4"/>
                </a:solidFill>
                <a:latin typeface="Red Hat Text" panose="02010503040201060303" pitchFamily="2" charset="77"/>
              </a:rPr>
              <a:t>a single unified global AI architecture, enabled by satellites, sensors and mobile networks</a:t>
            </a:r>
            <a:r>
              <a:rPr lang="en-US" sz="2000" dirty="0">
                <a:solidFill>
                  <a:schemeClr val="bg1"/>
                </a:solidFill>
                <a:latin typeface="Red Hat Text" panose="02010503040201060303" pitchFamily="2" charset="7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Red Hat Text" panose="020105030402010603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Red Hat Text" panose="02010503040201060303" pitchFamily="2" charset="77"/>
              </a:rPr>
              <a:t>Given all the available data sources and cross-correlation, this AI network will provide </a:t>
            </a:r>
            <a:r>
              <a:rPr lang="en-US" sz="2000" dirty="0">
                <a:solidFill>
                  <a:schemeClr val="accent4"/>
                </a:solidFill>
                <a:latin typeface="Red Hat Text" panose="02010503040201060303" pitchFamily="2" charset="77"/>
              </a:rPr>
              <a:t>the most accurate early warning capability possible, and provide course correction recommendations for species preservation, agriculture resilience, and water resource optimization</a:t>
            </a:r>
            <a:r>
              <a:rPr lang="en-US" sz="2000" dirty="0">
                <a:solidFill>
                  <a:schemeClr val="bg1"/>
                </a:solidFill>
                <a:latin typeface="Red Hat Text" panose="02010503040201060303" pitchFamily="2" charset="7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Red Hat Text" panose="020105030402010603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Red Hat Text" panose="02010503040201060303" pitchFamily="2" charset="77"/>
              </a:rPr>
              <a:t>This </a:t>
            </a:r>
            <a:r>
              <a:rPr lang="en-US" sz="2000" dirty="0">
                <a:solidFill>
                  <a:schemeClr val="accent4"/>
                </a:solidFill>
                <a:latin typeface="Red Hat Text" panose="02010503040201060303" pitchFamily="2" charset="77"/>
              </a:rPr>
              <a:t>provides parity for developing nations</a:t>
            </a:r>
            <a:r>
              <a:rPr lang="en-US" sz="2000" dirty="0">
                <a:solidFill>
                  <a:schemeClr val="bg1"/>
                </a:solidFill>
                <a:latin typeface="Red Hat Text" panose="02010503040201060303" pitchFamily="2" charset="77"/>
              </a:rPr>
              <a:t>, as they gain access to the same shared AI resources as all other countries. This also eliminates bias, as currently only a small group of wealthy nations have the access to large data sets and deep environmental analysis. </a:t>
            </a:r>
          </a:p>
          <a:p>
            <a:endParaRPr lang="en-US" sz="2000" dirty="0">
              <a:solidFill>
                <a:schemeClr val="bg1"/>
              </a:solidFill>
              <a:latin typeface="Red Hat Text" panose="020105030402010603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Red Hat Text" panose="02010503040201060303" pitchFamily="2" charset="77"/>
              </a:rPr>
              <a:t>An ancillary benefit - over time, species communications will be analyzed for patterns (acoustics, behavioral, etc.) and </a:t>
            </a:r>
            <a:r>
              <a:rPr lang="en-US" sz="2000" dirty="0">
                <a:solidFill>
                  <a:schemeClr val="accent4"/>
                </a:solidFill>
                <a:latin typeface="Red Hat Text" panose="02010503040201060303" pitchFamily="2" charset="77"/>
              </a:rPr>
              <a:t>a Rosetta Stone for animal and insect communications </a:t>
            </a:r>
            <a:r>
              <a:rPr lang="en-US" sz="2000" dirty="0">
                <a:solidFill>
                  <a:schemeClr val="bg1"/>
                </a:solidFill>
                <a:latin typeface="Red Hat Text" panose="02010503040201060303" pitchFamily="2" charset="77"/>
              </a:rPr>
              <a:t>will emerge across thousands of species.</a:t>
            </a:r>
          </a:p>
          <a:p>
            <a:endParaRPr lang="en-US" dirty="0"/>
          </a:p>
        </p:txBody>
      </p:sp>
      <p:sp>
        <p:nvSpPr>
          <p:cNvPr id="100" name="AccentBar"/>
          <p:cNvSpPr>
            <a:spLocks noGrp="1"/>
          </p:cNvSpPr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9617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978DD-B1B0-ED55-BCC5-9883EA6F9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410" y="138391"/>
            <a:ext cx="113538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Trebuchet MS"/>
              </a:rPr>
              <a:t>Leading to a single AI observation, analysis and early warning platform.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5" name="Google Shape;114;p3">
            <a:extLst>
              <a:ext uri="{FF2B5EF4-FFF2-40B4-BE49-F238E27FC236}">
                <a16:creationId xmlns:a16="http://schemas.microsoft.com/office/drawing/2014/main" id="{0AD0026B-390B-A907-065C-D2ADA527807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13322" y="6011068"/>
            <a:ext cx="731252" cy="601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7A030133-EB07-C938-6594-06A756EEC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510" y="1463954"/>
            <a:ext cx="8390979" cy="4702216"/>
          </a:xfrm>
          <a:prstGeom prst="rect">
            <a:avLst/>
          </a:prstGeom>
        </p:spPr>
      </p:pic>
      <p:sp>
        <p:nvSpPr>
          <p:cNvPr id="100" name="AccentBar"/>
          <p:cNvSpPr>
            <a:spLocks noGrp="1"/>
          </p:cNvSpPr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2818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978DD-B1B0-ED55-BCC5-9883EA6F9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873" y="476311"/>
            <a:ext cx="10515600" cy="1325563"/>
          </a:xfrm>
        </p:spPr>
        <p:txBody>
          <a:bodyPr/>
          <a:lstStyle/>
          <a:p>
            <a:r>
              <a:rPr lang="en-US" sz="3600" b="1" dirty="0">
                <a:solidFill>
                  <a:srgbClr val="FFC000"/>
                </a:solidFill>
                <a:latin typeface="Trebuchet MS"/>
              </a:rPr>
              <a:t>Projects – Uganda, UNFCCC, USDA</a:t>
            </a:r>
            <a:br>
              <a:rPr lang="en-US" sz="4400" dirty="0">
                <a:solidFill>
                  <a:schemeClr val="bg1"/>
                </a:solidFill>
                <a:latin typeface="Trebuchet MS"/>
              </a:rPr>
            </a:br>
            <a:endParaRPr lang="en-US" dirty="0"/>
          </a:p>
        </p:txBody>
      </p:sp>
      <p:pic>
        <p:nvPicPr>
          <p:cNvPr id="5" name="Google Shape;114;p3">
            <a:extLst>
              <a:ext uri="{FF2B5EF4-FFF2-40B4-BE49-F238E27FC236}">
                <a16:creationId xmlns:a16="http://schemas.microsoft.com/office/drawing/2014/main" id="{0AD0026B-390B-A907-065C-D2ADA527807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13322" y="6011068"/>
            <a:ext cx="731252" cy="601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7E9355-DAC9-A5B2-F1E1-0104E9D601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84873" y="1524314"/>
            <a:ext cx="10394075" cy="4351338"/>
          </a:xfrm>
          <a:prstGeom prst="rect">
            <a:avLst/>
          </a:prstGeom>
        </p:spPr>
      </p:pic>
      <p:sp>
        <p:nvSpPr>
          <p:cNvPr id="100" name="AccentBar"/>
          <p:cNvSpPr>
            <a:spLocks noGrp="1"/>
          </p:cNvSpPr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2101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7FDD4-B0B7-9012-D1F2-67F166887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92BEF-767D-26DF-C790-7A8360149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524" y="296150"/>
            <a:ext cx="10515600" cy="1325563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rgbClr val="FFC000"/>
                </a:solidFill>
                <a:latin typeface="Trebuchet MS"/>
              </a:rPr>
              <a:t>Uganda Project</a:t>
            </a:r>
            <a:br>
              <a:rPr lang="en-US" sz="2200" dirty="0">
                <a:solidFill>
                  <a:srgbClr val="FFC000"/>
                </a:solidFill>
                <a:latin typeface="Trebuchet MS"/>
              </a:rPr>
            </a:br>
            <a:br>
              <a:rPr lang="en-US" sz="2200" dirty="0">
                <a:solidFill>
                  <a:srgbClr val="FFC000"/>
                </a:solidFill>
                <a:latin typeface="Trebuchet MS"/>
              </a:rPr>
            </a:br>
            <a:r>
              <a:rPr lang="en-US" sz="2200" dirty="0">
                <a:solidFill>
                  <a:srgbClr val="FFC000"/>
                </a:solidFill>
                <a:latin typeface="Trebuchet MS"/>
              </a:rPr>
              <a:t>Uganda Ministry of Science, Technology and Innovation – Economic Development</a:t>
            </a:r>
            <a:endParaRPr lang="en-US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B2C12-46B3-8A62-3BB9-D3E34CA3F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12" y="1889137"/>
            <a:ext cx="6600012" cy="453038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chemeClr val="bg1"/>
                </a:solidFill>
                <a:latin typeface="Trebuchet MS"/>
              </a:rPr>
              <a:t>Uganda’s Chief Scientist contacted the Enterprise Neurosystem, following a UNFCCC panel discussion at COP 29.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chemeClr val="bg1"/>
                </a:solidFill>
                <a:latin typeface="Trebuchet MS"/>
              </a:rPr>
              <a:t>The STI was formed by the Presidency to drive a stronger economic foundation via advanced technology. They now have an electric bus factory and lithium battery production coming online, with materials largely sourced in-country with 100 percent renewable energy.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chemeClr val="bg1"/>
                </a:solidFill>
                <a:latin typeface="Trebuchet MS"/>
              </a:rPr>
              <a:t>Consists of four economic enablement projects – an AI LLM Foundation Model, Cloud data centers, a climate change early warning system, and advanced IT Training.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chemeClr val="bg1"/>
                </a:solidFill>
                <a:latin typeface="Trebuchet MS"/>
              </a:rPr>
              <a:t>The development of a national network of environmental sensors, in partnership with the Enterprise Neurosystem and JPL/Caltech, has been approved for funding by the Minister of STI. </a:t>
            </a:r>
          </a:p>
          <a:p>
            <a:pPr>
              <a:lnSpc>
                <a:spcPct val="150000"/>
              </a:lnSpc>
            </a:pPr>
            <a:endParaRPr lang="en-US" sz="2600" dirty="0">
              <a:solidFill>
                <a:schemeClr val="bg1"/>
              </a:solidFill>
              <a:latin typeface="Red Hat Display" panose="02010503040201060303" pitchFamily="2" charset="0"/>
              <a:ea typeface="Red Hat Display" panose="02010503040201060303" pitchFamily="2" charset="0"/>
              <a:cs typeface="Red Hat Display" panose="02010503040201060303" pitchFamily="2" charset="0"/>
            </a:endParaRPr>
          </a:p>
          <a:p>
            <a:endParaRPr lang="en-US" dirty="0"/>
          </a:p>
        </p:txBody>
      </p:sp>
      <p:pic>
        <p:nvPicPr>
          <p:cNvPr id="5" name="Google Shape;114;p3">
            <a:extLst>
              <a:ext uri="{FF2B5EF4-FFF2-40B4-BE49-F238E27FC236}">
                <a16:creationId xmlns:a16="http://schemas.microsoft.com/office/drawing/2014/main" id="{3E74E6C4-E40A-0D2E-7B17-DB500D4D999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800" y="6176963"/>
            <a:ext cx="731252" cy="601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8E4E3C-3814-3664-177F-CCC657E0F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1508" y="4143379"/>
            <a:ext cx="2166876" cy="19339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924C3C-1709-31FC-5368-C404EA674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2382" y="1892300"/>
            <a:ext cx="2768724" cy="20765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FE5F4AF-1DF6-63C7-C780-5907B62BB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043381" y="1977218"/>
            <a:ext cx="2276144" cy="17071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2E21E99-EAB1-EB69-743B-8869725F84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043382" y="4427896"/>
            <a:ext cx="2276144" cy="1707108"/>
          </a:xfrm>
          <a:prstGeom prst="rect">
            <a:avLst/>
          </a:prstGeom>
        </p:spPr>
      </p:pic>
      <p:sp>
        <p:nvSpPr>
          <p:cNvPr id="100" name="AccentBar"/>
          <p:cNvSpPr>
            <a:spLocks noGrp="1"/>
          </p:cNvSpPr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2789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0EE310-D2B2-E0A6-BF75-75DA81C5A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7F4A-D663-999D-3180-3B156ED8C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524" y="296150"/>
            <a:ext cx="10948276" cy="1325563"/>
          </a:xfrm>
        </p:spPr>
        <p:txBody>
          <a:bodyPr>
            <a:normAutofit fontScale="90000"/>
          </a:bodyPr>
          <a:lstStyle/>
          <a:p>
            <a:r>
              <a:rPr lang="en-US" sz="2500" dirty="0">
                <a:solidFill>
                  <a:srgbClr val="FFC000"/>
                </a:solidFill>
                <a:latin typeface="Trebuchet MS"/>
              </a:rPr>
              <a:t>Uganda Project</a:t>
            </a:r>
            <a:br>
              <a:rPr lang="en-US" sz="2400" dirty="0">
                <a:solidFill>
                  <a:srgbClr val="FFC000"/>
                </a:solidFill>
                <a:latin typeface="Trebuchet MS"/>
              </a:rPr>
            </a:br>
            <a:br>
              <a:rPr lang="en-US" sz="2400" dirty="0">
                <a:solidFill>
                  <a:srgbClr val="FFC000"/>
                </a:solidFill>
                <a:latin typeface="Trebuchet MS"/>
              </a:rPr>
            </a:br>
            <a:r>
              <a:rPr lang="en-US" sz="2400" dirty="0">
                <a:solidFill>
                  <a:srgbClr val="FFC000"/>
                </a:solidFill>
                <a:latin typeface="Trebuchet MS"/>
              </a:rPr>
              <a:t>Uganda Ministry of Science, Technology and Innovation – National AI Sensor Network Project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F18B7-151A-7E2C-0F19-CF4FABF62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043" y="1994619"/>
            <a:ext cx="5476281" cy="4863381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900" dirty="0">
                <a:solidFill>
                  <a:schemeClr val="bg1"/>
                </a:solidFill>
                <a:latin typeface="Trebuchet MS"/>
              </a:rPr>
              <a:t>The Enterprise Neurosystem team recently visited Uganda for government meetings with the STI Ministry.</a:t>
            </a:r>
          </a:p>
          <a:p>
            <a:pPr>
              <a:lnSpc>
                <a:spcPct val="150000"/>
              </a:lnSpc>
            </a:pPr>
            <a:r>
              <a:rPr lang="en-US" sz="2900" dirty="0">
                <a:solidFill>
                  <a:schemeClr val="bg1"/>
                </a:solidFill>
                <a:latin typeface="Trebuchet MS"/>
              </a:rPr>
              <a:t>They arranged a tour of the Bwindi Impenetrable Forest, and a visit to the mountain gorillas. </a:t>
            </a:r>
          </a:p>
          <a:p>
            <a:pPr>
              <a:lnSpc>
                <a:spcPct val="150000"/>
              </a:lnSpc>
            </a:pPr>
            <a:r>
              <a:rPr lang="en-US" sz="2900" dirty="0">
                <a:solidFill>
                  <a:schemeClr val="bg1"/>
                </a:solidFill>
                <a:latin typeface="Trebuchet MS"/>
              </a:rPr>
              <a:t>It became evident this area would be an ideal site for a sensor monitoring project.</a:t>
            </a:r>
          </a:p>
          <a:p>
            <a:pPr>
              <a:lnSpc>
                <a:spcPct val="150000"/>
              </a:lnSpc>
            </a:pPr>
            <a:r>
              <a:rPr lang="en-US" sz="2900" dirty="0">
                <a:solidFill>
                  <a:schemeClr val="bg1"/>
                </a:solidFill>
                <a:latin typeface="Trebuchet MS"/>
              </a:rPr>
              <a:t>The Bwindi region will be proposed as a first site for a national AI sensor network to monitor their environment and resources, via advanced sensor development and deployment. </a:t>
            </a:r>
          </a:p>
          <a:p>
            <a:pPr>
              <a:lnSpc>
                <a:spcPct val="150000"/>
              </a:lnSpc>
            </a:pPr>
            <a:r>
              <a:rPr lang="en-US" sz="2900" dirty="0">
                <a:solidFill>
                  <a:schemeClr val="bg1"/>
                </a:solidFill>
                <a:latin typeface="Trebuchet MS"/>
              </a:rPr>
              <a:t>JPL/Caltech and the Enterprise Neurosystem will codevelop these capabilities with Ugandan universities and scientists.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900" dirty="0">
              <a:solidFill>
                <a:schemeClr val="bg1"/>
              </a:solidFill>
              <a:latin typeface="Red Hat Display" panose="02010503040201060303" pitchFamily="2" charset="0"/>
              <a:ea typeface="Red Hat Display" panose="02010503040201060303" pitchFamily="2" charset="0"/>
              <a:cs typeface="Red Hat Display" panose="02010503040201060303" pitchFamily="2" charset="0"/>
            </a:endParaRPr>
          </a:p>
          <a:p>
            <a:endParaRPr lang="en-US" dirty="0"/>
          </a:p>
        </p:txBody>
      </p:sp>
      <p:pic>
        <p:nvPicPr>
          <p:cNvPr id="5" name="Google Shape;114;p3">
            <a:extLst>
              <a:ext uri="{FF2B5EF4-FFF2-40B4-BE49-F238E27FC236}">
                <a16:creationId xmlns:a16="http://schemas.microsoft.com/office/drawing/2014/main" id="{BF46DAFA-DE9A-BB59-7991-848BC7F7342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800" y="6176963"/>
            <a:ext cx="731252" cy="601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309600-5407-152B-3D39-AB2BCB05D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590060" y="2619502"/>
            <a:ext cx="3320002" cy="2490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FC5AA3-0765-2B98-7EE8-C2A48029BF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2800" y="4541740"/>
            <a:ext cx="2198697" cy="16490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938A6D-5B8C-DE99-BDBA-545C0FCD1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801" y="1989838"/>
            <a:ext cx="2198698" cy="2430844"/>
          </a:xfrm>
          <a:prstGeom prst="rect">
            <a:avLst/>
          </a:prstGeom>
        </p:spPr>
      </p:pic>
      <p:sp>
        <p:nvSpPr>
          <p:cNvPr id="100" name="AccentBar"/>
          <p:cNvSpPr>
            <a:spLocks noGrp="1"/>
          </p:cNvSpPr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5319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68BE8-8AC1-F1D8-B95A-79C4C89BC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5310B9-09EE-ACF8-783E-53C32C6959D8}"/>
              </a:ext>
            </a:extLst>
          </p:cNvPr>
          <p:cNvSpPr txBox="1"/>
          <p:nvPr/>
        </p:nvSpPr>
        <p:spPr>
          <a:xfrm>
            <a:off x="631848" y="391840"/>
            <a:ext cx="22114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  <a:latin typeface="Trebuchet MS"/>
              </a:rPr>
              <a:t>Uganda Projects</a:t>
            </a:r>
            <a:br>
              <a:rPr lang="en-US" sz="2400" dirty="0">
                <a:solidFill>
                  <a:srgbClr val="FFC000"/>
                </a:solidFill>
                <a:latin typeface="Trebuchet MS"/>
              </a:rPr>
            </a:br>
            <a:endParaRPr lang="en-US" sz="2400" dirty="0">
              <a:solidFill>
                <a:srgbClr val="FFC000"/>
              </a:solidFill>
              <a:latin typeface="Red Hat Display" panose="02010503040201060303" pitchFamily="2" charset="0"/>
              <a:ea typeface="Red Hat Display" panose="02010503040201060303" pitchFamily="2" charset="0"/>
              <a:cs typeface="Red Hat Display" panose="02010503040201060303" pitchFamily="2" charset="0"/>
            </a:endParaRPr>
          </a:p>
          <a:p>
            <a:r>
              <a:rPr lang="en-US" sz="2400" dirty="0">
                <a:solidFill>
                  <a:srgbClr val="FFC000"/>
                </a:solidFill>
              </a:rPr>
              <a:t>Lake Victoria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0B72A6-9C5A-3365-E779-466E01058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557" y="4303863"/>
            <a:ext cx="2618793" cy="19640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64BEAD-E4B4-D236-321F-D47C7E296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755178" y="1310716"/>
            <a:ext cx="2662529" cy="19968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9AE804A-DDB5-7D91-DEDF-4220598CE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824717" y="874241"/>
            <a:ext cx="3616410" cy="271230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45EEEA-F28D-0A29-D937-CF25E3C3F0A0}"/>
              </a:ext>
            </a:extLst>
          </p:cNvPr>
          <p:cNvSpPr txBox="1"/>
          <p:nvPr/>
        </p:nvSpPr>
        <p:spPr>
          <a:xfrm>
            <a:off x="453625" y="1743643"/>
            <a:ext cx="5904342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Millions of Africans rely on Lake Victoria for fresh water, agriculture production, and power.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Heart of the Nile River, which supports agriculture across Egypt and Sudan.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Sewage, climate change and agricultural runoff has led to algal blooms leading to “dead zones” for marine life.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AI analysis can provide the deeper causes and conditions, and in time, recommendations for course correction.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FBFB6E8-FA7D-29F2-F16C-4CE36FED2B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9633" y="3822701"/>
            <a:ext cx="2445258" cy="2445258"/>
          </a:xfrm>
          <a:prstGeom prst="rect">
            <a:avLst/>
          </a:prstGeom>
        </p:spPr>
      </p:pic>
      <p:sp>
        <p:nvSpPr>
          <p:cNvPr id="100" name="AccentBar"/>
          <p:cNvSpPr>
            <a:spLocks noGrp="1"/>
          </p:cNvSpPr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591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4C5321-1E54-D3A6-9C73-068CB32F9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ECEEC-1A10-0C7D-CD84-352A142E1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524" y="296150"/>
            <a:ext cx="10515600" cy="1325563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FFC000"/>
                </a:solidFill>
                <a:latin typeface="Trebuchet MS"/>
              </a:rPr>
              <a:t>Uganda Project</a:t>
            </a:r>
            <a:br>
              <a:rPr lang="en-US" sz="2200" dirty="0">
                <a:solidFill>
                  <a:srgbClr val="FFC000"/>
                </a:solidFill>
                <a:latin typeface="Trebuchet MS"/>
              </a:rPr>
            </a:br>
            <a:br>
              <a:rPr lang="en-US" sz="2200" dirty="0">
                <a:solidFill>
                  <a:srgbClr val="FFC000"/>
                </a:solidFill>
                <a:latin typeface="Trebuchet MS"/>
              </a:rPr>
            </a:br>
            <a:r>
              <a:rPr lang="en-US" sz="2200" dirty="0">
                <a:solidFill>
                  <a:srgbClr val="FFC000"/>
                </a:solidFill>
                <a:latin typeface="Trebuchet MS"/>
              </a:rPr>
              <a:t>Uganda Ministry of Science, Technology and Innovation – Robotic Sensor Project</a:t>
            </a:r>
            <a:endParaRPr lang="en-US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61D92-81D1-F185-F6AA-97AE50446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20" y="1668482"/>
            <a:ext cx="6600012" cy="518951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900" dirty="0">
                <a:solidFill>
                  <a:schemeClr val="bg1"/>
                </a:solidFill>
                <a:latin typeface="Trebuchet MS"/>
              </a:rPr>
              <a:t>Uganda’s Space and Aeronautics Ministry has proposed a project to create a robotic sensor with AI capabilities to monitor Lake Victoria. </a:t>
            </a:r>
          </a:p>
          <a:p>
            <a:pPr>
              <a:lnSpc>
                <a:spcPct val="150000"/>
              </a:lnSpc>
            </a:pPr>
            <a:r>
              <a:rPr lang="en-US" sz="2900" dirty="0">
                <a:solidFill>
                  <a:schemeClr val="bg1"/>
                </a:solidFill>
                <a:latin typeface="Trebuchet MS"/>
              </a:rPr>
              <a:t>The Enterprise Neurosystem has been engaged to develop this project. A full stack architecture has been designed to provide the AI infrastructure, and the sensor design and implementation will now be established.</a:t>
            </a:r>
          </a:p>
          <a:p>
            <a:pPr>
              <a:lnSpc>
                <a:spcPct val="150000"/>
              </a:lnSpc>
            </a:pPr>
            <a:r>
              <a:rPr lang="en-US" sz="2900" dirty="0">
                <a:solidFill>
                  <a:schemeClr val="bg1"/>
                </a:solidFill>
                <a:latin typeface="Trebuchet MS"/>
              </a:rPr>
              <a:t>JPL/Caltech is now supporting this effort in a formal partnership with the Enterprise Neurosystem, to help design the sensors and network technology, and create a knowledge transfer to Uganda. As a result, Makerere University will also partner on environmental sensor and AI model designs.</a:t>
            </a:r>
          </a:p>
          <a:p>
            <a:pPr>
              <a:lnSpc>
                <a:spcPct val="150000"/>
              </a:lnSpc>
            </a:pPr>
            <a:r>
              <a:rPr lang="en-US" sz="2900" dirty="0">
                <a:solidFill>
                  <a:schemeClr val="bg1"/>
                </a:solidFill>
                <a:latin typeface="Trebuchet MS"/>
              </a:rPr>
              <a:t>The economic benefits are immediate - water and agriculture security, and wide scale species preservation. And as Uganda now has deep manufacturing capabilities, they will manufacture the advanced sensors required for a global environmental analysis network.</a:t>
            </a:r>
          </a:p>
          <a:p>
            <a:endParaRPr lang="en-US" dirty="0"/>
          </a:p>
        </p:txBody>
      </p:sp>
      <p:pic>
        <p:nvPicPr>
          <p:cNvPr id="5" name="Google Shape;114;p3">
            <a:extLst>
              <a:ext uri="{FF2B5EF4-FFF2-40B4-BE49-F238E27FC236}">
                <a16:creationId xmlns:a16="http://schemas.microsoft.com/office/drawing/2014/main" id="{D76CFA3F-09C4-3283-3323-C3DD29A6CAC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800" y="6176963"/>
            <a:ext cx="731252" cy="601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4E6BF9-C9C2-EF2D-38B4-961451AC0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521964" y="2565263"/>
            <a:ext cx="3668040" cy="2751030"/>
          </a:xfrm>
          <a:prstGeom prst="rect">
            <a:avLst/>
          </a:prstGeom>
        </p:spPr>
      </p:pic>
      <p:sp>
        <p:nvSpPr>
          <p:cNvPr id="100" name="AccentBar"/>
          <p:cNvSpPr>
            <a:spLocks noGrp="1"/>
          </p:cNvSpPr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0535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22324-D751-6587-768F-532127B6B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1DF34D-D8E0-2CC7-5545-748F75784C25}"/>
              </a:ext>
            </a:extLst>
          </p:cNvPr>
          <p:cNvSpPr txBox="1"/>
          <p:nvPr/>
        </p:nvSpPr>
        <p:spPr>
          <a:xfrm>
            <a:off x="631848" y="391840"/>
            <a:ext cx="37011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  <a:latin typeface="Trebuchet MS"/>
              </a:rPr>
              <a:t>Uganda Project Objective</a:t>
            </a:r>
            <a:br>
              <a:rPr lang="en-US" sz="2400" dirty="0">
                <a:solidFill>
                  <a:srgbClr val="FFC000"/>
                </a:solidFill>
                <a:latin typeface="Trebuchet MS"/>
              </a:rPr>
            </a:br>
            <a:endParaRPr lang="en-US" sz="2400" dirty="0">
              <a:solidFill>
                <a:srgbClr val="FFC000"/>
              </a:solidFill>
              <a:latin typeface="Red Hat Display" panose="02010503040201060303" pitchFamily="2" charset="0"/>
              <a:ea typeface="Red Hat Display" panose="02010503040201060303" pitchFamily="2" charset="0"/>
              <a:cs typeface="Red Hat Display" panose="02010503040201060303" pitchFamily="2" charset="0"/>
            </a:endParaRPr>
          </a:p>
          <a:p>
            <a:r>
              <a:rPr lang="en-US" sz="2400" dirty="0">
                <a:solidFill>
                  <a:srgbClr val="FFC000"/>
                </a:solidFill>
              </a:rPr>
              <a:t>The National Network Effect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8A4895-A0C9-DC67-5789-95989E8CCADF}"/>
              </a:ext>
            </a:extLst>
          </p:cNvPr>
          <p:cNvSpPr txBox="1"/>
          <p:nvPr/>
        </p:nvSpPr>
        <p:spPr>
          <a:xfrm>
            <a:off x="453625" y="1743643"/>
            <a:ext cx="5820175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Lake Victoria and Bwindi will be networked together – providing a unified frame of analysis.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 time, agricultural regions, forests and wetlands across the country will be added to the network.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Thousands of different ecosystems and impacts can then be analyzed and charted in real time.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24/7 capabilities of AI can provide ongoing analysis around the clock – the more data, the better.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This network effect will be managed by Uganda. The data remains in Uganda. And can be shared for scientific and business value on Ugandan terms.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91AD57-4760-F378-26C2-F78FE7A55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344" y="1423762"/>
            <a:ext cx="5257800" cy="4089400"/>
          </a:xfrm>
          <a:prstGeom prst="rect">
            <a:avLst/>
          </a:prstGeom>
        </p:spPr>
      </p:pic>
      <p:pic>
        <p:nvPicPr>
          <p:cNvPr id="5" name="Google Shape;114;p3">
            <a:extLst>
              <a:ext uri="{FF2B5EF4-FFF2-40B4-BE49-F238E27FC236}">
                <a16:creationId xmlns:a16="http://schemas.microsoft.com/office/drawing/2014/main" id="{6726988C-86F3-12B1-E469-44FB1799BC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53800" y="6176963"/>
            <a:ext cx="731252" cy="60166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AccentBar"/>
          <p:cNvSpPr>
            <a:spLocks noGrp="1"/>
          </p:cNvSpPr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2580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4;p3">
            <a:extLst>
              <a:ext uri="{FF2B5EF4-FFF2-40B4-BE49-F238E27FC236}">
                <a16:creationId xmlns:a16="http://schemas.microsoft.com/office/drawing/2014/main" id="{0AD0026B-390B-A907-065C-D2ADA527807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13322" y="6011068"/>
            <a:ext cx="731252" cy="60166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F083B2-30B2-D761-B450-B04FC128B65E}"/>
              </a:ext>
            </a:extLst>
          </p:cNvPr>
          <p:cNvSpPr txBox="1"/>
          <p:nvPr/>
        </p:nvSpPr>
        <p:spPr>
          <a:xfrm>
            <a:off x="-21949" y="1028423"/>
            <a:ext cx="601284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85775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rebuchet MS"/>
              </a:rPr>
              <a:t>Active support of UNFCCC and UN University programs.</a:t>
            </a:r>
          </a:p>
          <a:p>
            <a:pPr marL="485775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rebuchet MS"/>
              </a:rPr>
              <a:t>Built and sponsored the UNFCCC TEC and CTCN AI Grand Challenges.</a:t>
            </a:r>
          </a:p>
          <a:p>
            <a:pPr marL="485775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rebuchet MS"/>
              </a:rPr>
              <a:t>Participate in the United Nations &amp; ITU Early Warning 4 All (EW4All) Initiative.</a:t>
            </a:r>
          </a:p>
          <a:p>
            <a:pPr marL="485775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rebuchet MS"/>
              </a:rPr>
              <a:t>Partnered with the UAE and USDA on the AI Grand Challenge competition for innovations in smart agriculture.</a:t>
            </a:r>
          </a:p>
          <a:p>
            <a:pPr marL="485775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rebuchet MS"/>
              </a:rPr>
              <a:t> Co-creation of new enablement initiatives at COP 28 and 29 (AI Grand Challenge, etc.). Delivered keynote talks on AI technology at Africa Climate Week and Asia Pacific Climate Week.</a:t>
            </a:r>
          </a:p>
          <a:p>
            <a:pPr marL="485775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rebuchet MS"/>
              </a:rPr>
              <a:t>AI presentations delivered at the UNFCCC TEC / CTCN joint meetings in Korea and Germany.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1FE0AD-4657-70AB-9FE5-A4A271F60B84}"/>
              </a:ext>
            </a:extLst>
          </p:cNvPr>
          <p:cNvSpPr txBox="1"/>
          <p:nvPr/>
        </p:nvSpPr>
        <p:spPr>
          <a:xfrm>
            <a:off x="383841" y="453097"/>
            <a:ext cx="72052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C000"/>
                </a:solidFill>
                <a:latin typeface="Red Hat Display" panose="02010503040201060303" pitchFamily="2" charset="77"/>
              </a:rPr>
              <a:t>United Nations and USDA Engagement</a:t>
            </a:r>
            <a:br>
              <a:rPr lang="en-US" sz="2000" b="1" dirty="0">
                <a:solidFill>
                  <a:schemeClr val="bg1"/>
                </a:solidFill>
                <a:latin typeface="Red Hat Display" panose="02010503040201060303" pitchFamily="2" charset="77"/>
              </a:rPr>
            </a:b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BAFF0B-66FC-84B9-3730-261663ADA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42749"/>
            <a:ext cx="2310168" cy="15311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494F57-2F7F-3387-71CE-5A7140EC1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168" y="901055"/>
            <a:ext cx="2301887" cy="15728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D326BF-04E7-B384-2837-6675262B5D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473907"/>
            <a:ext cx="4612055" cy="3459042"/>
          </a:xfrm>
          <a:prstGeom prst="rect">
            <a:avLst/>
          </a:prstGeom>
        </p:spPr>
      </p:pic>
      <p:sp>
        <p:nvSpPr>
          <p:cNvPr id="100" name="AccentBar"/>
          <p:cNvSpPr>
            <a:spLocks noGrp="1"/>
          </p:cNvSpPr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5973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C663D33-6E6A-9C12-B202-3EFB0E3C3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FFC000"/>
                </a:solidFill>
                <a:latin typeface="Trebuchet MS"/>
              </a:rPr>
              <a:t>UNFCCC AI Innovation Grand Challenge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9E9468-C287-FD07-7D78-A373EE86D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171" y="1690688"/>
            <a:ext cx="6399847" cy="3812406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en-US" sz="2100" dirty="0">
                <a:solidFill>
                  <a:schemeClr val="bg1"/>
                </a:solidFill>
                <a:latin typeface="Trebuchet MS"/>
              </a:rPr>
              <a:t>The Enterprise Neurosystem works with the UNFCCC TEC on various AI initiatives in support of developing nations, and hosted the UNFCCC AI Innovation Grand Challenge in 2024.</a:t>
            </a:r>
          </a:p>
          <a:p>
            <a:pPr>
              <a:lnSpc>
                <a:spcPct val="160000"/>
              </a:lnSpc>
            </a:pPr>
            <a:r>
              <a:rPr lang="en-US" sz="2100" dirty="0">
                <a:solidFill>
                  <a:schemeClr val="bg1"/>
                </a:solidFill>
                <a:latin typeface="Trebuchet MS"/>
              </a:rPr>
              <a:t>Winner: Dr. Letetia Addison, University of West Indies, Trinidad and Tobago for her AI4SIDS platform proposal.</a:t>
            </a:r>
          </a:p>
          <a:p>
            <a:pPr>
              <a:lnSpc>
                <a:spcPct val="160000"/>
              </a:lnSpc>
            </a:pPr>
            <a:r>
              <a:rPr lang="en-US" sz="2100" dirty="0">
                <a:solidFill>
                  <a:schemeClr val="bg1"/>
                </a:solidFill>
                <a:latin typeface="Trebuchet MS"/>
              </a:rPr>
              <a:t>AI innovators in developing nations were identified, promoted and supported. </a:t>
            </a:r>
          </a:p>
          <a:p>
            <a:pPr>
              <a:lnSpc>
                <a:spcPct val="160000"/>
              </a:lnSpc>
            </a:pPr>
            <a:r>
              <a:rPr lang="en-US" sz="2100" dirty="0">
                <a:solidFill>
                  <a:schemeClr val="bg1"/>
                </a:solidFill>
                <a:latin typeface="Trebuchet MS"/>
              </a:rPr>
              <a:t>Open-source AI applications will be made available free of charge to developing nations.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2C1467-41EE-D6BD-876E-9DBBFA84D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344" y="6187305"/>
            <a:ext cx="731252" cy="6016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BE7EF7-A62E-0814-8DFE-C26B2919E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571" y="1905257"/>
            <a:ext cx="4571226" cy="3047485"/>
          </a:xfrm>
          <a:prstGeom prst="rect">
            <a:avLst/>
          </a:prstGeom>
        </p:spPr>
      </p:pic>
      <p:sp>
        <p:nvSpPr>
          <p:cNvPr id="100" name="AccentBar"/>
          <p:cNvSpPr>
            <a:spLocks noGrp="1"/>
          </p:cNvSpPr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5619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BAA6BC-C619-B043-F89D-124B32F89C9C}"/>
              </a:ext>
            </a:extLst>
          </p:cNvPr>
          <p:cNvSpPr txBox="1"/>
          <p:nvPr/>
        </p:nvSpPr>
        <p:spPr>
          <a:xfrm>
            <a:off x="311133" y="366451"/>
            <a:ext cx="112003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FFC000"/>
              </a:solidFill>
              <a:latin typeface="Red Hat Display" panose="02010503040201060303" pitchFamily="2" charset="0"/>
              <a:ea typeface="Red Hat Display" panose="02010503040201060303" pitchFamily="2" charset="0"/>
              <a:cs typeface="Red Hat Display" panose="02010503040201060303" pitchFamily="2" charset="0"/>
            </a:endParaRPr>
          </a:p>
          <a:p>
            <a:r>
              <a:rPr lang="en-US" sz="2400" dirty="0">
                <a:solidFill>
                  <a:srgbClr val="FFC000"/>
                </a:solidFill>
                <a:latin typeface="Trebuchet MS"/>
              </a:rPr>
              <a:t>CalTech / JPL and The Nature Conservancy 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CB2F3D-AD6A-4C4D-C77D-F337B1DF5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188" y="1881529"/>
            <a:ext cx="2899412" cy="21745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CB9307-C4F6-A0EE-E776-9FF709AEE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686" y="4150676"/>
            <a:ext cx="2372399" cy="17792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13B777-21FB-0D14-DCDC-B67AD1B47A0C}"/>
              </a:ext>
            </a:extLst>
          </p:cNvPr>
          <p:cNvSpPr txBox="1"/>
          <p:nvPr/>
        </p:nvSpPr>
        <p:spPr>
          <a:xfrm>
            <a:off x="28768" y="1661368"/>
            <a:ext cx="6148299" cy="44861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JPL and Enterprise Neurosystem engagement began at a United Nations University event in Bonn, Germany.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Meetings were then held at JPL/CalTech and NCEAS to discuss the Enterprise Neurosystem concept and architecture.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Dangermond Preserve will be the first deployment of the EN architecture in the US.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Will incorporate integrated satellite data, atmospherics, ground sensor and multi-species analysis – a global data fabric and API integration framework, imbued with AI cross-correlation.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Can be used for Earth analysis and planetary exploration.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David Schimel (Nobel Peace Prize – pictured on left, with Ravi Sinha) is the JPL executive sponsor for this project.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DA06D23-78F3-4C9A-F375-082690B2B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200" y="1881529"/>
            <a:ext cx="2401723" cy="4265939"/>
          </a:xfrm>
          <a:prstGeom prst="rect">
            <a:avLst/>
          </a:prstGeom>
        </p:spPr>
      </p:pic>
      <p:pic>
        <p:nvPicPr>
          <p:cNvPr id="17" name="Google Shape;114;p3">
            <a:extLst>
              <a:ext uri="{FF2B5EF4-FFF2-40B4-BE49-F238E27FC236}">
                <a16:creationId xmlns:a16="http://schemas.microsoft.com/office/drawing/2014/main" id="{CC7FFECF-639A-413D-926F-C88535EA721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44848" y="6024563"/>
            <a:ext cx="731252" cy="60166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AccentBar"/>
          <p:cNvSpPr>
            <a:spLocks noGrp="1"/>
          </p:cNvSpPr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6007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B9DFF0-A0F5-930A-2C0B-49C1B753F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A0C15F3-2B5D-C4AA-8211-72082D603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71" y="186449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C000"/>
                </a:solidFill>
                <a:latin typeface="Trebuchet MS"/>
              </a:rPr>
              <a:t>Natural Language Interaction Protocol (NLIP) 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092060-44B5-6EDF-FC5A-FAEE87990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68" y="1451720"/>
            <a:ext cx="6913088" cy="5055959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60000"/>
              </a:lnSpc>
            </a:pPr>
            <a:r>
              <a:rPr lang="en-US" sz="2600" dirty="0">
                <a:solidFill>
                  <a:schemeClr val="bg1"/>
                </a:solidFill>
                <a:latin typeface="Trebuchet MS"/>
              </a:rPr>
              <a:t>Dr. Dinesh Verma (IBM Research and Enterprise Neurosystem CTO) proposed a universal chatbot for all consumer mobile applications.</a:t>
            </a:r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chemeClr val="bg1"/>
                </a:solidFill>
                <a:latin typeface="Trebuchet MS"/>
              </a:rPr>
              <a:t>He realized this approach - and in turn, the EN architecture - requires a GenAI-to-GenAI communications protocol as a global standard.  </a:t>
            </a:r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chemeClr val="bg1"/>
                </a:solidFill>
                <a:latin typeface="Trebuchet MS"/>
              </a:rPr>
              <a:t>He then initiated an Enterprise Neurosystem community project – NLIP.</a:t>
            </a:r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chemeClr val="bg1"/>
                </a:solidFill>
                <a:latin typeface="Trebuchet MS"/>
              </a:rPr>
              <a:t>Recently adopted by the ECMA as a global standard and working group.</a:t>
            </a:r>
          </a:p>
          <a:p>
            <a:pPr>
              <a:lnSpc>
                <a:spcPct val="160000"/>
              </a:lnSpc>
            </a:pPr>
            <a:r>
              <a:rPr lang="en-US" sz="2600" dirty="0">
                <a:solidFill>
                  <a:schemeClr val="bg1"/>
                </a:solidFill>
                <a:latin typeface="Trebuchet MS"/>
              </a:rPr>
              <a:t>Backers now include Cisco, Hewlett Packard, Hitachi, IBM, Microsoft, Red Hat and multiple academic institutions.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Red Hat Display" panose="02010503040201060303" pitchFamily="2" charset="0"/>
              <a:ea typeface="Red Hat Display" panose="02010503040201060303" pitchFamily="2" charset="0"/>
              <a:cs typeface="Red Hat Display" panose="02010503040201060303" pitchFamily="2" charset="0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FFB428-1670-2624-7EDA-0CB6A4D32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344" y="6187305"/>
            <a:ext cx="731252" cy="6016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EFC2A9-898C-723E-0168-FBDBFA12A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141" y="1272334"/>
            <a:ext cx="3862888" cy="4313332"/>
          </a:xfrm>
          <a:prstGeom prst="rect">
            <a:avLst/>
          </a:prstGeom>
        </p:spPr>
      </p:pic>
      <p:sp>
        <p:nvSpPr>
          <p:cNvPr id="100" name="AccentBar"/>
          <p:cNvSpPr>
            <a:spLocks noGrp="1"/>
          </p:cNvSpPr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2877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E3C0A1-9C72-DB8E-A345-FD149CB84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F80C3BF-4793-803F-F56E-757ECC7E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0532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C000"/>
                </a:solidFill>
                <a:latin typeface="Trebuchet MS"/>
              </a:rPr>
              <a:t>Uganda Projects </a:t>
            </a:r>
            <a:br>
              <a:rPr lang="en-US" sz="2800" dirty="0">
                <a:solidFill>
                  <a:srgbClr val="FFC000"/>
                </a:solidFill>
                <a:latin typeface="Trebuchet MS"/>
              </a:rPr>
            </a:br>
            <a:br>
              <a:rPr lang="en-US" sz="2800" dirty="0">
                <a:solidFill>
                  <a:srgbClr val="FFC000"/>
                </a:solidFill>
                <a:latin typeface="Trebuchet MS"/>
              </a:rPr>
            </a:br>
            <a:r>
              <a:rPr lang="en-US" sz="2800" dirty="0">
                <a:solidFill>
                  <a:srgbClr val="FFC000"/>
                </a:solidFill>
                <a:latin typeface="Trebuchet MS"/>
              </a:rPr>
              <a:t>Crane National AI Model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FE09B4-4E7C-100E-8D0F-99785F509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71" y="1730376"/>
            <a:ext cx="6306329" cy="453379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60000"/>
              </a:lnSpc>
            </a:pPr>
            <a:r>
              <a:rPr lang="en-US" sz="2900" dirty="0">
                <a:solidFill>
                  <a:schemeClr val="bg1"/>
                </a:solidFill>
                <a:latin typeface="Trebuchet MS"/>
              </a:rPr>
              <a:t>The Atomic Language Model (ALM) was developed with the Uganda Crane AI team and the Enterprise Neurosystem.</a:t>
            </a:r>
          </a:p>
          <a:p>
            <a:pPr>
              <a:lnSpc>
                <a:spcPct val="160000"/>
              </a:lnSpc>
            </a:pPr>
            <a:r>
              <a:rPr lang="en-US" sz="2900" dirty="0">
                <a:solidFill>
                  <a:schemeClr val="bg1"/>
                </a:solidFill>
                <a:latin typeface="Trebuchet MS"/>
              </a:rPr>
              <a:t>Larger LLMs present issues in terms of power consumption and raw compute requirements. The climate impact and business model make this approach unsustainable.</a:t>
            </a:r>
          </a:p>
          <a:p>
            <a:pPr>
              <a:lnSpc>
                <a:spcPct val="160000"/>
              </a:lnSpc>
            </a:pPr>
            <a:r>
              <a:rPr lang="en-US" sz="2900" dirty="0">
                <a:solidFill>
                  <a:schemeClr val="bg1"/>
                </a:solidFill>
                <a:latin typeface="Trebuchet MS"/>
              </a:rPr>
              <a:t>The Atomic Model is 50KB in size, and based on Ugandan (Bantu) languages.  It can be used on standard non-GPU chipsets and small IoT devices – sensors, Raspberry Pi, 2G phones, etc.</a:t>
            </a:r>
          </a:p>
          <a:p>
            <a:pPr>
              <a:lnSpc>
                <a:spcPct val="160000"/>
              </a:lnSpc>
            </a:pPr>
            <a:r>
              <a:rPr lang="en-US" sz="2900" dirty="0">
                <a:solidFill>
                  <a:schemeClr val="bg1"/>
                </a:solidFill>
                <a:latin typeface="Trebuchet MS"/>
              </a:rPr>
              <a:t>Based on mathematical principles popularized by the UOR Foundation, to drive greater efficiencies in AI.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Red Hat Display" panose="02010503040201060303" pitchFamily="2" charset="0"/>
              <a:ea typeface="Red Hat Display" panose="02010503040201060303" pitchFamily="2" charset="0"/>
              <a:cs typeface="Red Hat Display" panose="02010503040201060303" pitchFamily="2" charset="0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6A2DAF-8974-2613-7EA1-E2A29F17F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344" y="6187305"/>
            <a:ext cx="731252" cy="6016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033029-4392-4526-8E50-7B6D354B5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900" y="1924050"/>
            <a:ext cx="3009900" cy="3009900"/>
          </a:xfrm>
          <a:prstGeom prst="rect">
            <a:avLst/>
          </a:prstGeom>
        </p:spPr>
      </p:pic>
      <p:sp>
        <p:nvSpPr>
          <p:cNvPr id="100" name="AccentBar"/>
          <p:cNvSpPr>
            <a:spLocks noGrp="1"/>
          </p:cNvSpPr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4802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TABox1"/>
          <p:cNvSpPr>
            <a:spLocks noGrp="1"/>
          </p:cNvSpPr>
          <p:nvPr/>
        </p:nvSpPr>
        <p:spPr>
          <a:xfrm>
            <a:off x="500000" y="3900000"/>
            <a:ext cx="3700000" cy="9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060E24"/>
                </a:solidFill>
                <a:latin typeface="Trebuchet MS"/>
              </a:rPr>
              <a:t>SUPPORT THE MISSION</a:t>
            </a:r>
          </a:p>
        </p:txBody>
      </p:sp>
      <p:sp>
        <p:nvSpPr>
          <p:cNvPr id="31" name="CTABox2"/>
          <p:cNvSpPr>
            <a:spLocks noGrp="1"/>
          </p:cNvSpPr>
          <p:nvPr/>
        </p:nvSpPr>
        <p:spPr>
          <a:xfrm>
            <a:off x="4400000" y="3900000"/>
            <a:ext cx="3700000" cy="90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060E24"/>
                </a:solidFill>
                <a:latin typeface="Trebuchet MS"/>
              </a:rPr>
              <a:t>VOLUNTEER YOUR EXPERTISE</a:t>
            </a:r>
          </a:p>
        </p:txBody>
      </p:sp>
      <p:sp>
        <p:nvSpPr>
          <p:cNvPr id="32" name="CTABox3"/>
          <p:cNvSpPr>
            <a:spLocks noGrp="1"/>
          </p:cNvSpPr>
          <p:nvPr/>
        </p:nvSpPr>
        <p:spPr>
          <a:xfrm>
            <a:off x="8300000" y="3900000"/>
            <a:ext cx="3400000" cy="900000"/>
          </a:xfrm>
          <a:prstGeom prst="rect">
            <a:avLst/>
          </a:prstGeom>
          <a:solidFill>
            <a:srgbClr val="1A3366"/>
          </a:solidFill>
          <a:ln w="40000">
            <a:solidFill>
              <a:srgbClr val="FFC000"/>
            </a:solidFill>
          </a:ln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Trebuchet MS"/>
              </a:rPr>
              <a:t>JOIN THE NETWORK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0D0AA-F627-FBF7-89A7-C49463C6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00" y="600000"/>
            <a:ext cx="11200000" cy="1500000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C000"/>
                </a:solidFill>
                <a:latin typeface="Trebuchet MS"/>
              </a:rPr>
              <a:t>Join Us. Change the Planet.</a:t>
            </a:r>
          </a:p>
        </p:txBody>
      </p:sp>
      <p:sp>
        <p:nvSpPr>
          <p:cNvPr id="33" name="Tagline"/>
          <p:cNvSpPr txBox="1"/>
          <p:nvPr/>
        </p:nvSpPr>
        <p:spPr>
          <a:xfrm>
            <a:off x="500000" y="2100000"/>
            <a:ext cx="112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D4FF"/>
                </a:solidFill>
                <a:latin typeface="Trebuchet MS"/>
              </a:rPr>
              <a:t>The Enterprise Neurosystem is looking for philanthropic partners, volunteer scientists, AI engineers &amp; network architects.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6F16A-9EE1-AB7A-E630-7C8FD39AE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00" y="5100000"/>
            <a:ext cx="11200000" cy="15000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/>
              </a:rPr>
              <a:t>Bill Wright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AABBCC"/>
                </a:solidFill>
                <a:latin typeface="Trebuchet MS"/>
              </a:rPr>
              <a:t>Chair, Enterprise Neurosystem  •  +1-415-710-5207</a:t>
            </a:r>
          </a:p>
        </p:txBody>
      </p:sp>
      <p:sp>
        <p:nvSpPr>
          <p:cNvPr id="100" name="AccentBar"/>
          <p:cNvSpPr>
            <a:spLocks noGrp="1"/>
          </p:cNvSpPr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305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188724</TotalTime>
  <Words>1632</Words>
  <Application>Microsoft Macintosh PowerPoint</Application>
  <PresentationFormat>Widescreen</PresentationFormat>
  <Paragraphs>101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Red Hat Display</vt:lpstr>
      <vt:lpstr>Red Hat Text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Leading to a single AI observation, analysis and early warning platform.</vt:lpstr>
      <vt:lpstr>Projects – Uganda, UNFCCC, USDA </vt:lpstr>
      <vt:lpstr>Uganda Project  Uganda Ministry of Science, Technology and Innovation – Economic Development</vt:lpstr>
      <vt:lpstr>Uganda Project  Uganda Ministry of Science, Technology and Innovation – National AI Sensor Network Project</vt:lpstr>
      <vt:lpstr>PowerPoint Presentation</vt:lpstr>
      <vt:lpstr>Uganda Project  Uganda Ministry of Science, Technology and Innovation – Robotic Sensor Project</vt:lpstr>
      <vt:lpstr>PowerPoint Presentation</vt:lpstr>
      <vt:lpstr>PowerPoint Presentation</vt:lpstr>
      <vt:lpstr>UNFCCC AI Innovation Grand Challenge</vt:lpstr>
      <vt:lpstr>PowerPoint Presentation</vt:lpstr>
      <vt:lpstr>Natural Language Interaction Protocol (NLIP) </vt:lpstr>
      <vt:lpstr>Uganda Projects   Crane National AI Model</vt:lpstr>
      <vt:lpstr>Join Us. Change the Planet.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Bill Wright</cp:lastModifiedBy>
  <cp:revision>302</cp:revision>
  <dcterms:created xsi:type="dcterms:W3CDTF">2022-12-21T23:05:45Z</dcterms:created>
  <dcterms:modified xsi:type="dcterms:W3CDTF">2026-06-14T20:07:43Z</dcterms:modified>
</cp:coreProperties>
</file>